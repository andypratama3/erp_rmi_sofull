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RMI ERP — SOP Suite v2.2 (Full Detail)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Futuristic • Modern • Elegan • Jernih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pic>
        <p:nvPicPr>
          <p:cNvPr id="6" name="Picture 5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2194560" cy="7596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214884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F4FF"/>
                </a:solidFill>
              </a:defRPr>
            </a:pPr>
            <a:r>
              <a:t>Enterprise Operating Blueprint</a:t>
            </a:r>
          </a:p>
          <a:p>
            <a:pPr>
              <a:defRPr sz="2200">
                <a:solidFill>
                  <a:srgbClr val="1FC996"/>
                </a:solidFill>
              </a:defRPr>
            </a:pPr>
            <a:r>
              <a:t>We Are Healthy 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Agenda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SOP landscape &amp; operational governance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Struktur lokasi operasional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Prinsip enterprise &amp; security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Peta menu ERP end-to-end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Detail modul: MAIN, MASTER, CRM, PQP, WQS, HRL, FIN, MPR, ACT, SETTINGS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3 diagram kunci operasional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Next actions untuk konsistensi jangka panjang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Struktur Lokasi Operasional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371600"/>
            <a:ext cx="5212080" cy="5029200"/>
          </a:xfrm>
          <a:prstGeom prst="roundRect">
            <a:avLst/>
          </a:prstGeom>
          <a:solidFill>
            <a:srgbClr val="172F52"/>
          </a:solidFill>
          <a:ln w="25400"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E82FF"/>
                </a:solidFill>
              </a:defRPr>
            </a:pPr>
            <a:r>
              <a:t>Office Codes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BGR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BKS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TGR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BDG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SLO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SMG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5029200"/>
          </a:xfrm>
          <a:prstGeom prst="roundRect">
            <a:avLst/>
          </a:prstGeom>
          <a:solidFill>
            <a:srgbClr val="172F52"/>
          </a:solidFill>
          <a:ln w="25400"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C996"/>
                </a:solidFill>
              </a:defRPr>
            </a:pPr>
            <a:r>
              <a:t>Depo Codes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JGY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KAL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Prinsip Enterprise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Security by default: Auth + RBAC + CSRF + XSS guard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Auditability: action trail, log hygiene, evidence pack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Maker–Checker: dual control untuk proses kritis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Attachment hardening: validasi tipe, safe filename, controlled storage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Operational discipline: policy path NAS + QA 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Peta Menu ERP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MAIN / MASTER / CRM / PQP / WQS / HRL / FIN / MPR / ACT / SETTINGS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5840" y="2286000"/>
            <a:ext cx="137160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286000"/>
            <a:ext cx="137160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MASTER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286000"/>
            <a:ext cx="137160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CRM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137160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PQP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137160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WQS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2286000"/>
            <a:ext cx="137160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HRL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64240" y="2286000"/>
            <a:ext cx="137160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FIN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4297680"/>
            <a:ext cx="137160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MPR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4297680"/>
            <a:ext cx="137160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297680"/>
            <a:ext cx="1920240" cy="914400"/>
          </a:xfrm>
          <a:prstGeom prst="roundRect">
            <a:avLst/>
          </a:prstGeom>
          <a:solidFill>
            <a:srgbClr val="172F52"/>
          </a:solidFill>
          <a:ln w="22860">
            <a:solidFill>
              <a:srgbClr val="4B7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4FF"/>
                </a:solidFill>
              </a:defRPr>
            </a:pPr>
            <a:r>
              <a:t>SETTINGS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2743200"/>
            <a:ext cx="1828800" cy="0"/>
          </a:xfrm>
          <a:prstGeom prst="line">
            <a:avLst/>
          </a:prstGeom>
          <a:ln w="19050">
            <a:solidFill>
              <a:srgbClr val="4B7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0" y="2743200"/>
            <a:ext cx="1920240" cy="0"/>
          </a:xfrm>
          <a:prstGeom prst="line">
            <a:avLst/>
          </a:prstGeom>
          <a:ln w="19050">
            <a:solidFill>
              <a:srgbClr val="4B7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0" y="2743200"/>
            <a:ext cx="1645920" cy="0"/>
          </a:xfrm>
          <a:prstGeom prst="line">
            <a:avLst/>
          </a:prstGeom>
          <a:ln w="19050">
            <a:solidFill>
              <a:srgbClr val="4B7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32320" y="2743200"/>
            <a:ext cx="1645920" cy="0"/>
          </a:xfrm>
          <a:prstGeom prst="line">
            <a:avLst/>
          </a:prstGeom>
          <a:ln w="19050">
            <a:solidFill>
              <a:srgbClr val="4B7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2743200"/>
            <a:ext cx="1645920" cy="0"/>
          </a:xfrm>
          <a:prstGeom prst="line">
            <a:avLst/>
          </a:prstGeom>
          <a:ln w="19050">
            <a:solidFill>
              <a:srgbClr val="4B7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2743200"/>
            <a:ext cx="1371600" cy="0"/>
          </a:xfrm>
          <a:prstGeom prst="line">
            <a:avLst/>
          </a:prstGeom>
          <a:ln w="19050">
            <a:solidFill>
              <a:srgbClr val="4B7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480559" y="2743200"/>
            <a:ext cx="1005841" cy="2011680"/>
          </a:xfrm>
          <a:prstGeom prst="line">
            <a:avLst/>
          </a:prstGeom>
          <a:ln w="19050">
            <a:solidFill>
              <a:srgbClr val="4B7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583680" y="2743200"/>
            <a:ext cx="548640" cy="2011680"/>
          </a:xfrm>
          <a:prstGeom prst="line">
            <a:avLst/>
          </a:prstGeom>
          <a:ln w="19050">
            <a:solidFill>
              <a:srgbClr val="4B7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78240" y="2743200"/>
            <a:ext cx="182880" cy="2011680"/>
          </a:xfrm>
          <a:prstGeom prst="line">
            <a:avLst/>
          </a:prstGeom>
          <a:ln w="19050">
            <a:solidFill>
              <a:srgbClr val="4B7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MAIN Module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/dashboards/index.php and productivity hubs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7373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/dashboards/index.php</a:t>
            </a:r>
          </a:p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/chat/index.php</a:t>
            </a:r>
          </a:p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/docs/help_center.php</a:t>
            </a:r>
          </a:p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/dashboards/owner/exec_summary.php</a:t>
            </a:r>
          </a:p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/dashboards/quality/qc_complaint_dashboard.php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MASTER DATA Module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/master/index.php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master_products.php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master_import_products.php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master_customers.php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master_import_customers.php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master_vendors.php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master_import_vendors.php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master_manufactures.php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master_employees.php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master_pricelist_sell.php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master_pricelist.php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master_office.php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master_departements.php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master_tax.php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master_payment_terms.php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itc_reset_password.php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account_readiness.php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master_data.php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master_system_login.php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master_system_config.php</a:t>
            </a:r>
          </a:p>
          <a:p>
            <a:pPr>
              <a:spcAft>
                <a:spcPts val="800"/>
              </a:spcAft>
              <a:defRPr sz="1400">
                <a:solidFill>
                  <a:srgbClr val="ECF4FF"/>
                </a:solidFill>
              </a:defRPr>
            </a:pPr>
            <a:r>
              <a:t>• company_bank_accounts.php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CRM / Sales Module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/sales/index.php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7373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CF4FF"/>
                </a:solidFill>
              </a:defRPr>
            </a:pPr>
            <a:r>
              <a:t>• sales_do.php, sales_do_view.php, sales_order.php</a:t>
            </a:r>
          </a:p>
          <a:p>
            <a:pPr>
              <a:spcAft>
                <a:spcPts val="800"/>
              </a:spcAft>
              <a:defRPr sz="1700">
                <a:solidFill>
                  <a:srgbClr val="ECF4FF"/>
                </a:solidFill>
              </a:defRPr>
            </a:pPr>
            <a:r>
              <a:t>• crm_leads.php, crm_lead_create.php, crm_lead_edit.php, crm_lead_view.php</a:t>
            </a:r>
          </a:p>
          <a:p>
            <a:pPr>
              <a:spcAft>
                <a:spcPts val="800"/>
              </a:spcAft>
              <a:defRPr sz="1700">
                <a:solidFill>
                  <a:srgbClr val="ECF4FF"/>
                </a:solidFill>
              </a:defRPr>
            </a:pPr>
            <a:r>
              <a:t>• stock/wqs_do_tasks.php, scm_do_tasks.php, act_do_tasks.php, fin_do_tasks.php</a:t>
            </a:r>
          </a:p>
          <a:p>
            <a:pPr>
              <a:spcAft>
                <a:spcPts val="800"/>
              </a:spcAft>
              <a:defRPr sz="1700">
                <a:solidFill>
                  <a:srgbClr val="ECF4FF"/>
                </a:solidFill>
              </a:defRPr>
            </a:pPr>
            <a:r>
              <a:t>• tax_invoices.php, sales_control_tower.php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Diagram 1 — O2C DO Flow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Status &amp; department alignment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8288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DRAFT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228600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18288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sent_wqs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3320" y="2286000"/>
            <a:ext cx="320039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23360" y="1828800"/>
            <a:ext cx="178308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wqs_processing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28600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0" y="18288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ready_scm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3800" y="228600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63840" y="18288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on_delivery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81160" y="228600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0" y="18288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delivered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018520" y="228600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338560" y="1828800"/>
            <a:ext cx="178308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wait_payment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121640" y="228600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441680" y="18288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paid/closed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3291840"/>
            <a:ext cx="1737360" cy="822960"/>
          </a:xfrm>
          <a:prstGeom prst="roundRect">
            <a:avLst/>
          </a:prstGeom>
          <a:solidFill>
            <a:srgbClr val="4A2350"/>
          </a:solidFill>
          <a:ln>
            <a:solidFill>
              <a:srgbClr val="D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ECF4FF"/>
                </a:solidFill>
              </a:defRPr>
            </a:pPr>
            <a:r>
              <a:t>cancelled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Purchases (PQP) Module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/purchases/index.php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CF4FF"/>
                </a:solidFill>
              </a:defRPr>
            </a:pPr>
            <a:r>
              <a:t>• purchases_dashboard.php</a:t>
            </a:r>
          </a:p>
          <a:p>
            <a:pPr>
              <a:spcAft>
                <a:spcPts val="800"/>
              </a:spcAft>
              <a:defRPr sz="1600">
                <a:solidFill>
                  <a:srgbClr val="ECF4FF"/>
                </a:solidFill>
              </a:defRPr>
            </a:pPr>
            <a:r>
              <a:t>• purchases_import_control_tower.php</a:t>
            </a:r>
          </a:p>
          <a:p>
            <a:pPr>
              <a:spcAft>
                <a:spcPts val="800"/>
              </a:spcAft>
              <a:defRPr sz="1600">
                <a:solidFill>
                  <a:srgbClr val="ECF4FF"/>
                </a:solidFill>
              </a:defRPr>
            </a:pPr>
            <a:r>
              <a:t>• purchases_po.php, purchases_po_view.php, purchases_po_print.php</a:t>
            </a:r>
          </a:p>
          <a:p>
            <a:pPr>
              <a:spcAft>
                <a:spcPts val="800"/>
              </a:spcAft>
              <a:defRPr sz="1600">
                <a:solidFill>
                  <a:srgbClr val="ECF4FF"/>
                </a:solidFill>
              </a:defRPr>
            </a:pPr>
            <a:r>
              <a:t>• purchases_gr.php, purchases_invoice_ap.php, purchases_payment_ap.php</a:t>
            </a:r>
          </a:p>
          <a:p>
            <a:pPr>
              <a:spcAft>
                <a:spcPts val="800"/>
              </a:spcAft>
              <a:defRPr sz="1600">
                <a:solidFill>
                  <a:srgbClr val="ECF4FF"/>
                </a:solidFill>
              </a:defRPr>
            </a:pPr>
            <a:r>
              <a:t>• purchases_forwarder_quotes.php, purchases_forwarding_tasks.php</a:t>
            </a:r>
          </a:p>
          <a:p>
            <a:pPr>
              <a:spcAft>
                <a:spcPts val="800"/>
              </a:spcAft>
              <a:defRPr sz="1600">
                <a:solidFill>
                  <a:srgbClr val="ECF4FF"/>
                </a:solidFill>
              </a:defRPr>
            </a:pPr>
            <a:r>
              <a:t>• purchases_forwarder_invoice.php, purchases_forwarder_payment.php</a:t>
            </a:r>
          </a:p>
          <a:p>
            <a:pPr>
              <a:spcAft>
                <a:spcPts val="800"/>
              </a:spcAft>
              <a:defRPr sz="1600">
                <a:solidFill>
                  <a:srgbClr val="ECF4FF"/>
                </a:solidFill>
              </a:defRPr>
            </a:pPr>
            <a:r>
              <a:t>• purchases_ceisa_pib.php, stock_update_from_gr.php, bank_recon.php, fin_gl_auto.php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WQS / Stock Module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/stock/index.php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CF4FF"/>
                </a:solidFill>
              </a:defRPr>
            </a:pPr>
            <a:r>
              <a:t>• dashboards/warehouse/wqs_dashboard.php</a:t>
            </a:r>
          </a:p>
          <a:p>
            <a:pPr>
              <a:spcAft>
                <a:spcPts val="800"/>
              </a:spcAft>
              <a:defRPr sz="1700">
                <a:solidFill>
                  <a:srgbClr val="ECF4FF"/>
                </a:solidFill>
              </a:defRPr>
            </a:pPr>
            <a:r>
              <a:t>• wqs_stock.php, wqs_incoming.php, wqs_incoming_view.php</a:t>
            </a:r>
          </a:p>
          <a:p>
            <a:pPr>
              <a:spcAft>
                <a:spcPts val="800"/>
              </a:spcAft>
              <a:defRPr sz="1700">
                <a:solidFill>
                  <a:srgbClr val="ECF4FF"/>
                </a:solidFill>
              </a:defRPr>
            </a:pPr>
            <a:r>
              <a:t>• wqs_allocation.php, wqs_picking.php, wqs_picking_view.php, wqs_do_tasks.php</a:t>
            </a:r>
          </a:p>
          <a:p>
            <a:pPr>
              <a:spcAft>
                <a:spcPts val="800"/>
              </a:spcAft>
              <a:defRPr sz="1700">
                <a:solidFill>
                  <a:srgbClr val="ECF4FF"/>
                </a:solidFill>
              </a:defRPr>
            </a:pPr>
            <a:r>
              <a:t>• wqs_pr.php, wqs_pr_view.php, wqs_stock_transfer.php</a:t>
            </a:r>
          </a:p>
          <a:p>
            <a:pPr>
              <a:spcAft>
                <a:spcPts val="800"/>
              </a:spcAft>
              <a:defRPr sz="1700">
                <a:solidFill>
                  <a:srgbClr val="ECF4FF"/>
                </a:solidFill>
              </a:defRPr>
            </a:pPr>
            <a:r>
              <a:t>• wqs_stock_adjustment.php, wqs_stock_opname.php (NEW), wqs_stock_audit.php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Diagram 2 — Import Purchase Flow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End-to-end PR to AP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210312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PR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256032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210312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PO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3320" y="2560320"/>
            <a:ext cx="320039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23360" y="2103120"/>
            <a:ext cx="178308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GR/Receiving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56032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0" y="2103120"/>
            <a:ext cx="178308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Stock Update from GR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256032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210312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Invoice 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46920" y="256032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66960" y="210312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Payment 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384280" y="256032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704320" y="210312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Forwarder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121640" y="256032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441680" y="210312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PIB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HRL Suite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Docs, Process, Reg Alkes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371600"/>
            <a:ext cx="5212080" cy="5029200"/>
          </a:xfrm>
          <a:prstGeom prst="roundRect">
            <a:avLst/>
          </a:prstGeom>
          <a:solidFill>
            <a:srgbClr val="172F52"/>
          </a:solidFill>
          <a:ln w="25400"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E82FF"/>
                </a:solidFill>
              </a:defRPr>
            </a:pPr>
            <a:r>
              <a:t>HRL Docs (/hrl/index.php)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hrl_docs.php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hrl_doc_view.php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hrl_doc_download.php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hrl_ack_report.php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hrl_tower.php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5029200"/>
          </a:xfrm>
          <a:prstGeom prst="roundRect">
            <a:avLst/>
          </a:prstGeom>
          <a:solidFill>
            <a:srgbClr val="172F52"/>
          </a:solidFill>
          <a:ln w="25400"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C996"/>
                </a:solidFill>
              </a:defRPr>
            </a:pPr>
            <a:r>
              <a:t>HRL Process (/hrl_process/index.php)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request_view.php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request_print.php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my_pin.php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tower.php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download.php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5029200"/>
            <a:ext cx="4480560" cy="1097280"/>
          </a:xfrm>
          <a:prstGeom prst="roundRect">
            <a:avLst/>
          </a:prstGeom>
          <a:solidFill>
            <a:srgbClr val="122644"/>
          </a:solidFill>
          <a:ln>
            <a:solidFill>
              <a:srgbClr val="D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CF4FF"/>
                </a:solidFill>
              </a:defRPr>
            </a:pPr>
            <a:r>
              <a:t>HRL Reg Alkes: reg_alkes.php • reg_alkes_sku_by_nie.php • reg_alkes_case.php • reg_alkes_control_tower.php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Absensi + KPI Center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/absensi/index.php &amp; /kpi/index.php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7373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Absensi: attendance lifecycle, requests, approvals, office controls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KPI Center: scorecard visibility per role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KPI wajib: output, SLA, quality, discipline, compliance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Gunakan dashboard KPI untuk tindakan korektif cepat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FIN Module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Payroll + Rekening Perusahaan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202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Payroll (/payroll/index.php): payroll_run.php, salary_matrix.php, loans.php, payslip.php, payroll_settings.php, audit.php</a:t>
            </a:r>
          </a:p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Rekening Perusahaan: /master/company_bank_accounts.php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MPR Module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/mpr/index.php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mpr_dashboard.php, mpr_plans.php, mpr_plan_view.php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mpr_budget_fin.php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mpr_ops_daily_fin.php, mpr_ops_daily_fin_detail.php, mpr_ops_daily_fin_pay.php</a:t>
            </a:r>
          </a:p>
          <a:p>
            <a:pPr>
              <a:spcAft>
                <a:spcPts val="800"/>
              </a:spcAft>
              <a:defRPr sz="1800">
                <a:solidFill>
                  <a:srgbClr val="ECF4FF"/>
                </a:solidFill>
              </a:defRPr>
            </a:pPr>
            <a:r>
              <a:t>• mpr_ops_daily_fin_export.php, mpr_api_contacts.php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ACT Fixed Asset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/Fixed_Asset/index.php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• assets.php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• ops.php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• depreciation.php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• audit.php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• tax_annual.php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• disposals.php</a:t>
            </a:r>
          </a:p>
          <a:p>
            <a:pPr>
              <a:spcAft>
                <a:spcPts val="800"/>
              </a:spcAft>
              <a:defRPr sz="2000">
                <a:solidFill>
                  <a:srgbClr val="ECF4FF"/>
                </a:solidFill>
              </a:defRPr>
            </a:pPr>
            <a:r>
              <a:t>• transfers.php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SETTINGS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RBAC + Tools governance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371600"/>
            <a:ext cx="5212080" cy="5029200"/>
          </a:xfrm>
          <a:prstGeom prst="roundRect">
            <a:avLst/>
          </a:prstGeom>
          <a:solidFill>
            <a:srgbClr val="172F52"/>
          </a:solidFill>
          <a:ln w="25400"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E82FF"/>
                </a:solidFill>
              </a:defRPr>
            </a:pPr>
            <a:r>
              <a:t>Access Control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RBAC: /rbac/index.php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Permission minimal: MASTER.VIEW, SALES.VIEW, CHAT.VIEW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HRL.PROCESS_VIEW, HRL.REG_ALKES_VIEW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ABSENSI.*, KPI.VIEW, DASHBOARD.QUALITY_VIEW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PAYROLL.*, WQS.INCOMING_CRUD, STOCK.ADJUST, WQS.PR_CRUD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5029200"/>
          </a:xfrm>
          <a:prstGeom prst="roundRect">
            <a:avLst/>
          </a:prstGeom>
          <a:solidFill>
            <a:srgbClr val="172F52"/>
          </a:solidFill>
          <a:ln w="25400"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C996"/>
                </a:solidFill>
              </a:defRPr>
            </a:pPr>
            <a:r>
              <a:t>Ops Tooling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Tools: /tools/index.php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backup_now, backup_manager, restore_now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health.php, migration/migrate.php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qa/*.php, ops/control_center.php</a:t>
            </a:r>
          </a:p>
          <a:p>
            <a:pPr>
              <a:spcAft>
                <a:spcPts val="400"/>
              </a:spcAft>
              <a:defRPr sz="1400">
                <a:solidFill>
                  <a:srgbClr val="ECF4FF"/>
                </a:solidFill>
              </a:defRPr>
            </a:pPr>
            <a:r>
              <a:t>• release/*.php, audit/*.php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Diagram 3 — Stock Opname Flow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create session → input fisik → approve → apply → adjustment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2286000"/>
            <a:ext cx="178308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Create Session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31720" y="274320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51760" y="22860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Input Fisik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274320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89120" y="22860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Approve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743200"/>
            <a:ext cx="320039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79" y="22860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1FC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Apply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3800" y="2743200"/>
            <a:ext cx="320040" cy="0"/>
          </a:xfrm>
          <a:prstGeom prst="line">
            <a:avLst/>
          </a:prstGeom>
          <a:ln w="25400">
            <a:solidFill>
              <a:srgbClr val="D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63840" y="2286000"/>
            <a:ext cx="1417320" cy="914400"/>
          </a:xfrm>
          <a:prstGeom prst="roundRect">
            <a:avLst/>
          </a:prstGeom>
          <a:solidFill>
            <a:srgbClr val="172F52"/>
          </a:solidFill>
          <a:ln>
            <a:solidFill>
              <a:srgbClr val="2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CF4FF"/>
                </a:solidFill>
              </a:defRPr>
            </a:pPr>
            <a:r>
              <a:t>Adjustment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1FC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F4FF"/>
                </a:solidFill>
              </a:defRPr>
            </a:pPr>
            <a:r>
              <a:t>Penutup</a:t>
            </a:r>
          </a:p>
          <a:p>
            <a:pPr>
              <a:defRPr sz="1400">
                <a:solidFill>
                  <a:srgbClr val="A6BDDC"/>
                </a:solidFill>
              </a:defRPr>
            </a:pPr>
            <a:r>
              <a:t>Operational Discipline = ERP Konsisten Jangka Panjang</a:t>
            </a:r>
          </a:p>
        </p:txBody>
      </p:sp>
      <p:pic>
        <p:nvPicPr>
          <p:cNvPr id="5" name="Picture 4" descr="rmi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5989320"/>
            <a:ext cx="1463040" cy="50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Standarisasi proses per modul dan per role</a:t>
            </a:r>
          </a:p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Jaga quality gate (QA, audit trail, security checks)</a:t>
            </a:r>
          </a:p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Pastikan FE/BE bergerak dengan SOP yang sama</a:t>
            </a:r>
          </a:p>
          <a:p>
            <a:pPr>
              <a:spcAft>
                <a:spcPts val="800"/>
              </a:spcAft>
              <a:defRPr sz="1900">
                <a:solidFill>
                  <a:srgbClr val="ECF4FF"/>
                </a:solidFill>
              </a:defRPr>
            </a:pPr>
            <a:r>
              <a:t>• Next actions: training, weekly review, monthly compliance checkpoint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